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10a39ec702402f" /><Relationship Type="http://schemas.openxmlformats.org/officeDocument/2006/relationships/extended-properties" Target="/docProps/app.xml" Id="R8abd0ee2549845fe" /><Relationship Type="http://schemas.openxmlformats.org/officeDocument/2006/relationships/officeDocument" Target="/ppt/presentation.xml" Id="R9f8f1ec696254d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47ade9b89a4814"/>
  </p:sldMasterIdLst>
  <p:notesMasterIdLst>
    <p:notesMasterId xmlns:r="http://schemas.openxmlformats.org/officeDocument/2006/relationships" r:id="R864414a2d3234a4d"/>
  </p:notesMasterIdLst>
  <p:sldIdLst>
    <p:sldId xmlns:r="http://schemas.openxmlformats.org/officeDocument/2006/relationships" id="256" r:id="R7b9ca3c1be124e07"/>
    <p:sldId xmlns:r="http://schemas.openxmlformats.org/officeDocument/2006/relationships" id="257" r:id="R308d510860bc4dda"/>
    <p:sldId xmlns:r="http://schemas.openxmlformats.org/officeDocument/2006/relationships" id="258" r:id="Re8e4bbe5d4e047e4"/>
    <p:sldId xmlns:r="http://schemas.openxmlformats.org/officeDocument/2006/relationships" id="259" r:id="Radf8b61931524708"/>
    <p:sldId xmlns:r="http://schemas.openxmlformats.org/officeDocument/2006/relationships" id="260" r:id="Rd9f6ba0c189b493e"/>
    <p:sldId xmlns:r="http://schemas.openxmlformats.org/officeDocument/2006/relationships" id="261" r:id="R1feac78dd4d84fa9"/>
    <p:sldId xmlns:r="http://schemas.openxmlformats.org/officeDocument/2006/relationships" id="262" r:id="R097c3d3598334d5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d92a63fe0c4152" /><Relationship Type="http://schemas.openxmlformats.org/officeDocument/2006/relationships/slideMaster" Target="/ppt/slideMasters/slideMaster1.xml" Id="R5947ade9b89a4814" /><Relationship Type="http://schemas.openxmlformats.org/officeDocument/2006/relationships/notesMaster" Target="/ppt/notesMasters/notesMaster1.xml" Id="R864414a2d3234a4d" /><Relationship Type="http://schemas.openxmlformats.org/officeDocument/2006/relationships/presProps" Target="/ppt/presProps.xml" Id="R2f6ce523199f4907" /><Relationship Type="http://schemas.openxmlformats.org/officeDocument/2006/relationships/tableStyles" Target="/ppt/tableStyles.xml" Id="R1718aba1e23b4756" /><Relationship Type="http://schemas.openxmlformats.org/officeDocument/2006/relationships/slide" Target="/ppt/slides/slide1.xml" Id="R7b9ca3c1be124e07" /><Relationship Type="http://schemas.openxmlformats.org/officeDocument/2006/relationships/slide" Target="/ppt/slides/slide2.xml" Id="R308d510860bc4dda" /><Relationship Type="http://schemas.openxmlformats.org/officeDocument/2006/relationships/slide" Target="/ppt/slides/slide3.xml" Id="Re8e4bbe5d4e047e4" /><Relationship Type="http://schemas.openxmlformats.org/officeDocument/2006/relationships/slide" Target="/ppt/slides/slide4.xml" Id="Radf8b61931524708" /><Relationship Type="http://schemas.openxmlformats.org/officeDocument/2006/relationships/slide" Target="/ppt/slides/slide5.xml" Id="Rd9f6ba0c189b493e" /><Relationship Type="http://schemas.openxmlformats.org/officeDocument/2006/relationships/slide" Target="/ppt/slides/slide6.xml" Id="R1feac78dd4d84fa9" /><Relationship Type="http://schemas.openxmlformats.org/officeDocument/2006/relationships/slide" Target="/ppt/slides/slide7.xml" Id="R097c3d3598334d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b5c92584074e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9fdba68af34683" /><Relationship Type="http://schemas.openxmlformats.org/officeDocument/2006/relationships/notesMaster" Target="/ppt/notesMasters/notesMaster1.xml" Id="R2f8bf5f773f247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a7a486e3a1413c" /><Relationship Type="http://schemas.openxmlformats.org/officeDocument/2006/relationships/notesMaster" Target="/ppt/notesMasters/notesMaster1.xml" Id="R47e9b634522f4d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e5d0ca4c0242c3" /><Relationship Type="http://schemas.openxmlformats.org/officeDocument/2006/relationships/notesMaster" Target="/ppt/notesMasters/notesMaster1.xml" Id="R418dddb2b7f44c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050f0d2a93483b" /><Relationship Type="http://schemas.openxmlformats.org/officeDocument/2006/relationships/notesMaster" Target="/ppt/notesMasters/notesMaster1.xml" Id="Rc0fa36890ccf4d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26c59d132f4ef6" /><Relationship Type="http://schemas.openxmlformats.org/officeDocument/2006/relationships/notesMaster" Target="/ppt/notesMasters/notesMaster1.xml" Id="R8642afec11d24c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f83c91d0824727" /><Relationship Type="http://schemas.openxmlformats.org/officeDocument/2006/relationships/notesMaster" Target="/ppt/notesMasters/notesMaster1.xml" Id="Ra3d7825114cf4f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3fb3f829b34f43" /><Relationship Type="http://schemas.openxmlformats.org/officeDocument/2006/relationships/notesMaster" Target="/ppt/notesMasters/notesMaster1.xml" Id="R89ebf3ceff6040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1f6508980445b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9afb595cc6412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97fa42f84442a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f74165cfe74789" /></Relationships>
</file>

<file path=ppt/slideLayouts/slideLayout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4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dcb535b822495a" /><Relationship Type="http://schemas.openxmlformats.org/officeDocument/2006/relationships/slideLayout" Target="/ppt/slideLayouts/slideLayout1.xml" Id="Rc7bb486b4cf74b52" /><Relationship Type="http://schemas.openxmlformats.org/officeDocument/2006/relationships/slideLayout" Target="/ppt/slideLayouts/slideLayout2.xml" Id="Radb984f7bfcd41b6" /><Relationship Type="http://schemas.openxmlformats.org/officeDocument/2006/relationships/slideLayout" Target="/ppt/slideLayouts/slideLayout3.xml" Id="R786fda7f63c84e6c" /><Relationship Type="http://schemas.openxmlformats.org/officeDocument/2006/relationships/slideLayout" Target="/ppt/slideLayouts/slideLayout4.xml" Id="R8100f967b3104a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bb486b4cf74b52"/>
    <p:sldLayoutId xmlns:r="http://schemas.openxmlformats.org/officeDocument/2006/relationships" id="2147483650" r:id="Radb984f7bfcd41b6"/>
    <p:sldLayoutId xmlns:r="http://schemas.openxmlformats.org/officeDocument/2006/relationships" id="2147483651" r:id="R786fda7f63c84e6c"/>
    <p:sldLayoutId xmlns:r="http://schemas.openxmlformats.org/officeDocument/2006/relationships" id="2147483652" r:id="R8100f967b3104a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43208a842c54473" /><Relationship Type="http://schemas.openxmlformats.org/officeDocument/2006/relationships/notesSlide" Target="/ppt/notesSlides/notesSlide1.xml" Id="R3850d4200aaf40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92cf28dfb83b4645" /><Relationship Type="http://schemas.openxmlformats.org/officeDocument/2006/relationships/notesSlide" Target="/ppt/notesSlides/notesSlide2.xml" Id="R61589bb0678449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9c34073511c4f45" /><Relationship Type="http://schemas.openxmlformats.org/officeDocument/2006/relationships/notesSlide" Target="/ppt/notesSlides/notesSlide3.xml" Id="R12acd48e82344b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01826e226314b5e" /><Relationship Type="http://schemas.openxmlformats.org/officeDocument/2006/relationships/notesSlide" Target="/ppt/notesSlides/notesSlide4.xml" Id="R98f581ce01ee42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981418c032c4dd2" /><Relationship Type="http://schemas.openxmlformats.org/officeDocument/2006/relationships/notesSlide" Target="/ppt/notesSlides/notesSlide5.xml" Id="Rf89e659922cf4bc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17a8b473fe455d" /><Relationship Type="http://schemas.openxmlformats.org/officeDocument/2006/relationships/image" Target="/ppt/media/image.png" Id="R3a1e30cd679f4f5f" /><Relationship Type="http://schemas.openxmlformats.org/officeDocument/2006/relationships/notesSlide" Target="/ppt/notesSlides/notesSlide6.xml" Id="R4c4e2c3b396e43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bd03874fc8e42b2" /><Relationship Type="http://schemas.openxmlformats.org/officeDocument/2006/relationships/notesSlide" Target="/ppt/notesSlides/notesSlide7.xml" Id="R2b98fba0fca94c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531B55-544E-4C4A-BFD7-08470A1C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9C565F-7352-42E3-88D2-F81AC04B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D37EB-9DD2-4B48-AF7D-A4E355CA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01 / PROBLEM FRAMING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DFBEB4-A03B-445E-8CB1-86CAAB70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38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0" rIns="5715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把量子路由做成可用工具，而不是静态展示页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9441F-4AB4-49C4-AE43-650E595D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114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26E9A-6D6D-4AC7-9EBE-4191BAF3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2286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47D6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5EA985-77C5-4C00-922F-A0B822AE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1866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Logical circuit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OpenQASM / examples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7F99A4-D85C-4B7F-B523-555B2020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57400"/>
            <a:ext cx="114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约束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DC1B9B-54FC-4974-831D-72950AC4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00300"/>
            <a:ext cx="2286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F2B8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3A247-2915-43FC-9AF0-FF773377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9850"/>
            <a:ext cx="1866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Hardware topology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IBM Tokyo 20Q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FA7341-6233-445B-A339-117E63F4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57400"/>
            <a:ext cx="114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算法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CD89AD-0ADB-4783-98FA-AB2444BE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00300"/>
            <a:ext cx="2286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7DDC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210FE-D393-4F63-994D-5A95682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09850"/>
            <a:ext cx="1866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SABRE heuristic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lookahead default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4880A5-48BC-4B42-BD2C-44EA8320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057400"/>
            <a:ext cx="114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输出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31E72-E8D1-4DD7-8E30-5A765E77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400300"/>
            <a:ext cx="18478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47D6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F33E52-7C5F-4743-9BEA-C95E508B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609850"/>
            <a:ext cx="146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SWAP / depth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match result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5EFCA9-78F1-45C6-8219-7B28AADE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43175"/>
            <a:ext cx="32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306533-48D2-4B45-82C7-35ED1AA9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43175"/>
            <a:ext cx="32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D3E965-26CB-45F5-8504-06DD0DC1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43175"/>
            <a:ext cx="32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C35C16-BBA3-4A56-A4C4-C636D7E8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30099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47D6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53DCCF-64B9-4FAB-A999-1E904075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100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课程交付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23D835-1801-4763-A473-FD2BD758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2667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47D6C8"/>
                </a:solidFill>
                <a:latin typeface="Aptos"/>
                <a:ea typeface="Aptos"/>
                <a:cs typeface="Aptos"/>
              </a:defRPr>
            </a:pPr>
            <a:r>
              <a:t>量子信息网站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635890-4185-4853-BDAD-C8D2D47C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用户能选电路、跑算法、看解释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31574-D79E-4D53-8569-C53B85B3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76700"/>
            <a:ext cx="30099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F2B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AEE81E-B09C-43B1-BEF6-B8089B67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100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课程交付 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EC3838-5F08-4C9D-89AF-40F06F7F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76750"/>
            <a:ext cx="2667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2B84B"/>
                </a:solidFill>
                <a:latin typeface="Aptos"/>
                <a:ea typeface="Aptos"/>
                <a:cs typeface="Aptos"/>
              </a:defRPr>
            </a:pPr>
            <a:r>
              <a:t>量子信息基础大作业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90F9BC-335B-450C-81DB-C596C867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5775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展示算法选择、实验和工作量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0F39FE-AA9C-4932-A767-37503072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076700"/>
            <a:ext cx="30099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F36B6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2394D4-6192-4688-B7AC-27549C53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底线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C1F648-FCA5-4CA0-BB07-572615B3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76750"/>
            <a:ext cx="2667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36B6B"/>
                </a:solidFill>
                <a:latin typeface="Aptos"/>
                <a:ea typeface="Aptos"/>
                <a:cs typeface="Aptos"/>
              </a:defRPr>
            </a:pPr>
            <a:r>
              <a:t>不夸大 AI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E073CC-A4E3-402E-8B93-F74B5CCC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5775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所有结论必须能被脚本或网站复现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F4BFFC-6D3B-44A8-B03D-C91387CC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Source: docs/technical/02_宏观任务看板.md §19, §23.</a:t>
            </a:r>
          </a:p>
        </p:txBody>
      </p:sp>
    </p:spTree>
    <p:extLst>
      <p:ext uri="{BB962C8B-B14F-4D97-AF65-F5344CB8AC3E}">
        <p14:creationId xmlns:p14="http://schemas.microsoft.com/office/powerpoint/2010/main" val="195854230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7F0750-82FA-47BE-AD27-9644F805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A70FB0-EE72-469C-BCC1-BF4E6824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16BD4-2E55-425B-80C6-1B107E7E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02 / WHY ALGORITHMIC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1C4A04-B45D-4B61-AEE0-5F41143D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38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0" rIns="5715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路由难点在于每次 SWAP 都会改变后续搜索状态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8FA93C-BEDF-4A4A-8495-0144391B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1907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47D6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88BA9-BFD2-4350-80FF-4C23B054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812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47D6C8"/>
                </a:solidFill>
                <a:latin typeface="Aptos"/>
                <a:ea typeface="Aptos"/>
                <a:cs typeface="Aptos"/>
              </a:defRPr>
            </a:pPr>
            <a:r>
              <a:t>Logical DAG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5D04DE-06FA-444F-A94A-1DF585DE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门依赖决定可执行前沿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5E7C97-B5A9-4174-A0D8-8817329B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71750"/>
            <a:ext cx="361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135E98-71E9-4AA1-B9BE-6245E057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90750"/>
            <a:ext cx="21907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47D6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E12ADA-DF84-4F11-8FF6-1F80095A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3812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47D6C8"/>
                </a:solidFill>
                <a:latin typeface="Aptos"/>
                <a:ea typeface="Aptos"/>
                <a:cs typeface="Aptos"/>
              </a:defRPr>
            </a:pPr>
            <a:r>
              <a:t>Mapping state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9F6E5-2D87-4F8A-B3BC-5E5D00CC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432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逻辑比特映射到物理比特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B9A170-A3CE-406D-BB61-BBBD4DD7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361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76656C-1665-44EA-8771-48C41FF7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90750"/>
            <a:ext cx="21907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F2B8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A56432-B288-427D-9721-66FC0964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812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2B84B"/>
                </a:solidFill>
                <a:latin typeface="Aptos"/>
                <a:ea typeface="Aptos"/>
                <a:cs typeface="Aptos"/>
              </a:defRPr>
            </a:pPr>
            <a:r>
              <a:t>Candidate SWAP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98087B-2150-426B-8831-7DA364D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432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每一步都有多种候选交换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34CDCD-43AC-4B7D-8BBE-9F82F5FE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71750"/>
            <a:ext cx="361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818C31-ACB1-41F2-9032-31956DFB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90750"/>
            <a:ext cx="21907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47D6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8C2448-D80C-4FA9-814D-FFFB679F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812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47D6C8"/>
                </a:solidFill>
                <a:latin typeface="Aptos"/>
                <a:ea typeface="Aptos"/>
                <a:cs typeface="Aptos"/>
              </a:defRPr>
            </a:pPr>
            <a:r>
              <a:t>New circuit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BC314A-737E-4C1E-A9F6-4AB49ABA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432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插入 SWAP 后指标和状态变化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20C428-6878-4B36-9510-C26C138D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44767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F7F1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810E24-4CF6-4D6D-9DFF-107A4223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053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优化指标不是单一数字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334850-AA74-41C1-8B00-770C5FF0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86300"/>
            <a:ext cx="3714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完成率、SWAP、depth、双比特门数量、runtime 必须一起看；只报最好数字会误导算法选择。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6D5AA7-6783-4B11-964E-6C6F315E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95750"/>
            <a:ext cx="4762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F7F1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6536CC-45D2-4A07-B8B7-ED037B95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053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展示策略：点到为止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EA978E-777E-44FE-8784-7599853F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8630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这页解释“为什么是算法问题”，不把 SABRE 或 MCTS 讲成课堂教程。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01B506-173B-44FA-8A49-AF5E5672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Message: algorithmic complexity justifies candidate screening and controlled experiments.</a:t>
            </a:r>
          </a:p>
        </p:txBody>
      </p:sp>
    </p:spTree>
    <p:extLst>
      <p:ext uri="{BB962C8B-B14F-4D97-AF65-F5344CB8AC3E}">
        <p14:creationId xmlns:p14="http://schemas.microsoft.com/office/powerpoint/2010/main" val="148670847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6E09E1-A74D-4354-8D6F-3793F135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864AF-FA99-43BD-BCAD-502D2B71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6B6E18-5ED1-4E51-A1CF-F0D0911D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03 / CANDIDATE SCREENING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B6AD5-67D1-47AB-BE19-B123B530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38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0" rIns="5715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候选路线先分层筛选：实用、可解释、研究型分开处理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4E1E8-0973-4D98-84F1-096E1298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7C4E6B-39A1-422D-8337-3A8C9068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路线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A80E13-7F5A-4076-994A-05835D7E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85950"/>
            <a:ext cx="1952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DD321-7EDE-426A-AC7A-FDFDD446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81200"/>
            <a:ext cx="1762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定位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1EB792-8A7C-4DB6-8B32-87ABA479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18859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5CCBD-FD38-4AC0-B3B7-E959E6B8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981200"/>
            <a:ext cx="809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实用性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253FEC-FF65-44DC-8F84-FE4A10B1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859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A4CAE4-5BC9-49EB-B411-43D6FDFA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81200"/>
            <a:ext cx="809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展示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04006A-FBC6-4393-8BE0-53683796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885950"/>
            <a:ext cx="3000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D55912-5690-439E-96F3-28AEE730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981200"/>
            <a:ext cx="2809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当前处理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C80F0C-F3D9-492E-8830-0B5AB268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8600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8B14B4-A7AB-466C-81E6-B0BE3DC1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SABRE / LightSABRE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782C42-E0B6-4DF4-8A28-72BE6467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286000"/>
            <a:ext cx="1952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B3FCF6-E06D-4B14-AF7A-84C7813E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09825"/>
            <a:ext cx="1762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实用强基线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C2A757-1F51-497F-859E-2C8D0E03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286000"/>
            <a:ext cx="1000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13C93B-7AE9-45EA-B56A-E928DB48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09825"/>
            <a:ext cx="809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C2B66F-6EA4-441D-98BB-30D6BD17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86000"/>
            <a:ext cx="1000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D035CF-33B0-42F6-B9A0-EBEFC932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09825"/>
            <a:ext cx="809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中-高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AA5465-2119-480F-B055-35579361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2860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3E81B2-4240-45B7-BC77-206AFFA3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09825"/>
            <a:ext cx="2809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网站保底主线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F76FD8-56F3-49BA-AC83-330B995F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D8EB8E-1C51-4A9A-9342-EFC6C2A0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0375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lookahead / decay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97AAA0-2AAD-4F25-A997-E703FAB1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76550"/>
            <a:ext cx="1952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D60836-C820-467B-8255-7FA06698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000375"/>
            <a:ext cx="1762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启发式选择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AA8D0D-0235-4935-A979-5859E347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876550"/>
            <a:ext cx="1000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23CAED-ABFA-40F5-A85A-F26F86C1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3000375"/>
            <a:ext cx="809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B9146B-144F-416F-85BE-45536319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76550"/>
            <a:ext cx="1000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0CF7D6-558A-4E3A-B736-537A6012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00375"/>
            <a:ext cx="809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高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5B47EA-E45B-4820-8AA2-8DAF9A18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8765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33D772-63C1-4C42-AE94-9809CBC9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000375"/>
            <a:ext cx="2809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默认算法候选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E89347-DE8E-4B74-8656-5C96D582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923C64-A3EC-4748-B0C7-1475AEFF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90925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Beam / bounded search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B2CE43-500D-4498-AD16-041AFAF6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67100"/>
            <a:ext cx="1952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4D929E-06CF-4A89-9E5C-6069F863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90925"/>
            <a:ext cx="1762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无训练搜索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31F44B-AE0F-4BE3-8E5C-9C8E5990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467100"/>
            <a:ext cx="1000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91FB7-7DDA-4F95-B00E-ED87AD35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3590925"/>
            <a:ext cx="809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中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CE6FFA-8F48-4F1D-B52E-CF59A699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67100"/>
            <a:ext cx="1000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D226DD-0FBD-4AF9-BDA1-0CAEA48F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590925"/>
            <a:ext cx="809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高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2768FC-9036-4F47-B06F-D33FD13E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34671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D93FCD3-5801-4913-9CB7-3333A5AA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590925"/>
            <a:ext cx="2809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负样本或小实验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230D96-FF11-4227-B707-B83D2343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15616F2-B16A-4CF1-986C-12670089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81475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MCTS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6ECF8BA-F713-499B-847D-F40CBE31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57650"/>
            <a:ext cx="1952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2E4699-D901-4E4A-A1A0-F53886E1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81475"/>
            <a:ext cx="1762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可解释搜索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75F8D27-BBA6-46DD-82CA-88CE6597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057650"/>
            <a:ext cx="1000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B6D8EBF-FF7A-4732-8C61-94C719C5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181475"/>
            <a:ext cx="809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中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56C1E56-E0D4-4A6E-8064-8BE0247B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57650"/>
            <a:ext cx="1000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D0D585-57A7-45A1-BC15-26E20622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81475"/>
            <a:ext cx="809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高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7B29E92-F8CD-474E-BE38-C1A34B3E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0576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943B6F9-D9C7-42DB-98D2-E37032B5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81475"/>
            <a:ext cx="2809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只做小规模对照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45B8C83-8CC1-4332-8317-05BDC7F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4820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3A4FE2F-78E0-4D6E-8405-B0E515AD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72025"/>
            <a:ext cx="2457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GNN+MCTS / RL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C6D9A5D-CC7E-4FE4-950B-2D3376CF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48200"/>
            <a:ext cx="1952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9D4CE32-F466-45B0-96FA-4C4EB365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772025"/>
            <a:ext cx="1762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前沿学习路线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AD5DF97-3B35-465E-A7BD-402558B5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648200"/>
            <a:ext cx="1000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AA64F7D-6D01-4F09-93BD-98E0DF7B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72025"/>
            <a:ext cx="809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低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D05BDA5-AFFA-45F6-B73F-092BDD8B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48200"/>
            <a:ext cx="1000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DE027B-BADB-45BC-AF4C-B2C4B990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72025"/>
            <a:ext cx="809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很高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3695214-0D60-4FE7-892B-C3F3A0F3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6482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C4D3298-B99F-4B0A-AD64-A8D643FC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772025"/>
            <a:ext cx="2809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背景与风险复盘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7EBA975-4379-43B0-9AC2-E600B8F5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562600"/>
            <a:ext cx="53340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EE4ABDB-8FED-4CDD-99CA-A528E5A9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610225"/>
            <a:ext cx="518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t>原则：先证据，后承诺；先 baseline，后 AI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5AB029E-791C-4C21-8F6D-625119F7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Sources include Qiskit routing docs, LightSABRE, QRoute, AlphaRouter, and MQT Bench references recorded in the macro board.</a:t>
            </a:r>
          </a:p>
        </p:txBody>
      </p:sp>
    </p:spTree>
    <p:extLst>
      <p:ext uri="{BB962C8B-B14F-4D97-AF65-F5344CB8AC3E}">
        <p14:creationId xmlns:p14="http://schemas.microsoft.com/office/powerpoint/2010/main" val="24404794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449B91-4E74-42AF-B6BC-55133946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9CE841-53CE-4E77-9048-51ADD7DC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3BF182-0BB0-4B12-9862-304643A2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04 / HEURISTIC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1F0DA-26AB-43FF-B3E3-EAE03B65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38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0" rIns="5715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Lookahead 是当前最稳妥的网站默认算法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37EF3-63F3-467C-BFD6-5E50BF1B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3333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47D6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B1CFE2-6D9F-4B84-8755-C77B3FA9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990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Qiskit SabreSwap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25ECFA-D03D-4037-99AB-29C31ED2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2990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47D6C8"/>
                </a:solidFill>
                <a:latin typeface="Aptos"/>
                <a:ea typeface="Aptos"/>
                <a:cs typeface="Aptos"/>
              </a:defRPr>
            </a:pPr>
            <a:r>
              <a:t>LightSABRE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FB29ED-1CB7-4DC8-9802-A9F8540E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990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当前实现包含 LightSABRE modifications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433961-53E0-4C68-9243-234AD113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866900"/>
            <a:ext cx="3333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F2B8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7D49B-F233-4CFA-9868-6BC5333A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00250"/>
            <a:ext cx="2990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网站默认口径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8264CF-2C70-4907-8E61-BED2F108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2990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2B84B"/>
                </a:solidFill>
                <a:latin typeface="Aptos"/>
                <a:ea typeface="Aptos"/>
                <a:cs typeface="Aptos"/>
              </a:defRPr>
            </a:pPr>
            <a:r>
              <a:t>trials=1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ED473A-79C2-4BFA-9198-006FE833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47950"/>
            <a:ext cx="2990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seed=42，保证 static/live 可复现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660F9-BB51-425B-99F0-F0733484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333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7DDC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F8E86B-49B9-4DD0-AB17-FCCFC802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00250"/>
            <a:ext cx="2990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高压力样例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03696C-5AD2-4401-95F7-683AB250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66950"/>
            <a:ext cx="2990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7DDC8A"/>
                </a:solidFill>
                <a:latin typeface="Aptos"/>
                <a:ea typeface="Aptos"/>
                <a:cs typeface="Aptos"/>
              </a:defRPr>
            </a:pPr>
            <a:r>
              <a:t>QFT-10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11B9E0-A310-4427-A8ED-E0416338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47950"/>
            <a:ext cx="2990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最能看出 heuristic 差异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D69633-DEDA-45D0-B006-B6C4E0B2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581400"/>
            <a:ext cx="885825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F7F1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D869C-1E99-4E5A-883F-FF026E09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90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qft10 SWAP 对比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37BE42-E9FC-4DB0-A375-49FFA1B3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100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basic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B66867-F272-4996-9CB0-BA2F9F96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210050"/>
            <a:ext cx="5200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6B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75EABA-4776-42B0-8EE4-5F9E8D44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200525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42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654601-EC9E-4915-A801-B2EFF183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7200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lookahead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38976B-6CA8-42AD-89FF-6C2D274D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572000"/>
            <a:ext cx="35909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96FDCB-D5A8-449E-BF56-D471B1A2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62475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29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2162E9-EC38-4C5C-A88B-E3EC471B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339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decay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790981-14D9-481C-9C8F-6ADE5F7E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93395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7DF2D0-1C00-493C-B595-6FE2A0CB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924425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30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7773D-0069-4196-8091-E199206E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06730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结论：默认不追求“最复杂”，而选择能稳定进网站、能解释、能复现的 heuristic。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465362-B847-4A71-A6B4-BAD300D5B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Required evidence: qft10 basic=42, lookahead=29, decay=30; default is lookahead + seed=42 + trials=1.</a:t>
            </a:r>
          </a:p>
        </p:txBody>
      </p:sp>
    </p:spTree>
    <p:extLst>
      <p:ext uri="{BB962C8B-B14F-4D97-AF65-F5344CB8AC3E}">
        <p14:creationId xmlns:p14="http://schemas.microsoft.com/office/powerpoint/2010/main" val="118983350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F0A29E-51C3-4929-84CD-42534C03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FAB11A-910C-4E3A-8932-ED34A07D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6C3A7A-98CB-4E91-9C0A-D4FDF911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05 / FAILURE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CC470-627E-4972-AFA1-EFFEEF5E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38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0" rIns="5715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V14 AI router 是真实工作量，但不能作为默认算法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6B4F29-527B-47B0-A964-4DCB614D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52625"/>
            <a:ext cx="3143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47D6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D93DF-F2CB-4831-A257-BEA01FBE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85975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SABRE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FB37AE-AA94-4ABF-A0F3-FA2EDF0B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52675"/>
            <a:ext cx="2800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47D6C8"/>
                </a:solidFill>
                <a:latin typeface="Aptos"/>
                <a:ea typeface="Aptos"/>
                <a:cs typeface="Aptos"/>
              </a:defRPr>
            </a:pPr>
            <a:r>
              <a:t>12 / 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49DD1-5597-4169-849E-4B5F984C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33675"/>
            <a:ext cx="2800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MQT-Bench circuits completed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229CC-5A1E-444A-9568-6410F82B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52625"/>
            <a:ext cx="3143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F36B6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5C509C-FE49-480C-8FA1-10A1C28B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85975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V14 AI router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2DEDAE-E12C-49D7-B872-E0FD2FF2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52675"/>
            <a:ext cx="2800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36B6B"/>
                </a:solidFill>
                <a:latin typeface="Aptos"/>
                <a:ea typeface="Aptos"/>
                <a:cs typeface="Aptos"/>
              </a:defRPr>
            </a:pPr>
            <a:r>
              <a:t>4 / 12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6D592-50D8-4F5A-BF8F-D5B63EC9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33675"/>
            <a:ext cx="2800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completed circuits only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6EFF22-DF5E-43FB-8D85-2208A9B8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52625"/>
            <a:ext cx="3143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F2B8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A3E0B2-5830-48A0-BFF8-88258ED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85975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AI beats SABRE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79435A-2A31-4B2F-8117-981D9AAA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52675"/>
            <a:ext cx="2800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2B84B"/>
                </a:solidFill>
                <a:latin typeface="Aptos"/>
                <a:ea typeface="Aptos"/>
                <a:cs typeface="Aptos"/>
              </a:defRPr>
            </a:pPr>
            <a:r>
              <a:t>0 / 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52792C-44B7-4587-85EA-3DE99E54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2800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no win among comparable completed rows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D8D287-8460-4685-8DA1-91142D68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0"/>
            <a:ext cx="8858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F7F1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99C53C-6563-464C-BE68-4C5F1146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038600"/>
            <a:ext cx="3810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展示价值不等于性能胜利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1B6237-2724-491D-A1CC-A3077999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457700"/>
            <a:ext cx="7810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这不是要隐藏失败，而是把失败变成算法筛选证据：学习型路线有工程投入，但当前完成率和胜率不足，网站默认必须回到可靠 baseline。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5888BA-33CC-4864-8AAB-29F1C96E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48300"/>
            <a:ext cx="552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36B6B"/>
                </a:solidFill>
                <a:latin typeface="Aptos"/>
                <a:ea typeface="Aptos"/>
                <a:cs typeface="Aptos"/>
              </a:defRPr>
            </a:pPr>
            <a:r>
              <a:t>禁止口径：宣称 AI 胜出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22AD75-DC9D-4415-BF83-EB499E76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Source: models/v14_tokyo20/eval_report_mqt.md summarized in macro board.</a:t>
            </a:r>
          </a:p>
        </p:txBody>
      </p:sp>
    </p:spTree>
    <p:extLst>
      <p:ext uri="{BB962C8B-B14F-4D97-AF65-F5344CB8AC3E}">
        <p14:creationId xmlns:p14="http://schemas.microsoft.com/office/powerpoint/2010/main" val="3589731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ABDC9D-9C8F-4BA3-ABEE-551C9CD7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6C856B-B066-4D2B-B8D1-BD1CDB5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675901-03B6-454C-99F5-FDFB4963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06 / LIVE TOOL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35020D-2B79-43D8-B5C3-AC333D4D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0" rIns="5715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网站已经能作为工具运行：本地 API 返回可复现结果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e30cd679f4f5f"/>
          <a:srcRect xmlns:a="http://schemas.openxmlformats.org/drawingml/2006/main" l="0" t="21506" r="0" b="215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09750"/>
            <a:ext cx="7048500" cy="3905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C6FCDD-1F65-4648-AB1B-530C4B78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24050"/>
            <a:ext cx="3143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47D6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B916A-477C-4517-A613-61FB9390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9550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47D6C8"/>
                </a:solidFill>
                <a:latin typeface="Aptos"/>
                <a:ea typeface="Aptos"/>
                <a:cs typeface="Aptos"/>
              </a:defRPr>
            </a:pPr>
            <a:r>
              <a:t>Live API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224408-6E15-4925-8B90-A56043E2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00300"/>
            <a:ext cx="2667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QFT-10 + lookahead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status OK · SWAP 29 · depth 156 · match yes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93C48-4772-4DCF-BAA8-25129F02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48000"/>
            <a:ext cx="3143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7DDC8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84CA72-ADC4-488A-AEC9-6AB0A2C8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194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7DDC8A"/>
                </a:solidFill>
                <a:latin typeface="Aptos"/>
                <a:ea typeface="Aptos"/>
                <a:cs typeface="Aptos"/>
              </a:defRPr>
            </a:pPr>
            <a:r>
              <a:t>Workload proof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AF9F9C-CC13-43C3-8BB4-9C54BB68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24250"/>
            <a:ext cx="2628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API、页面、checked-in QASM、静态表和测试能互相验证，不只是截图展示。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9B598E-25E3-4417-BC7B-359E8232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143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F2B8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086E21-8284-4438-8369-829A2881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8150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2B84B"/>
                </a:solidFill>
                <a:latin typeface="Aptos"/>
                <a:ea typeface="Aptos"/>
                <a:cs typeface="Aptos"/>
              </a:defRPr>
            </a:pPr>
            <a:r>
              <a:t>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B9FED0-DBDD-45F4-A4E3-1153DADF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86300"/>
            <a:ext cx="2628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默认仍是实用 baseline；AI/V14/V15 只作为失败复盘和研究证据。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1BC9A-C6D4-40BD-B209-252748CE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Evidence screenshot: docs/assets/screenshots/website-live-api-qft10.png; browser validation recorded in macro board §25.</a:t>
            </a:r>
          </a:p>
        </p:txBody>
      </p:sp>
    </p:spTree>
    <p:extLst>
      <p:ext uri="{BB962C8B-B14F-4D97-AF65-F5344CB8AC3E}">
        <p14:creationId xmlns:p14="http://schemas.microsoft.com/office/powerpoint/2010/main" val="7024902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F30F9A-8C85-4994-9FD5-7A7B6AD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7111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7A6D4D-0262-4535-A6BA-596DB2BE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D6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C2B7C8-BD64-4F67-A869-E208C29B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"/>
            <a:ext cx="400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07 / DECISION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7FC3D-A733-439B-A366-0D15DFA9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838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0" rIns="5715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实用 baseline 先行，搜索和学习路线谨慎推进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07066B-0B74-423A-8E2F-BCAA4B39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7621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47D6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52D654-2922-4E32-A3BD-9595697C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955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47D6C8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919C40-9DAD-47DB-B636-AD543A3C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57500"/>
            <a:ext cx="1419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SABRE / LightSABRE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57F19-0588-4BFA-BD1F-7AA6DA5B1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1419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保留为强基线和网站保底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6AA726-594B-4038-AA77-2D222FCE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38450"/>
            <a:ext cx="32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566A26-DFB0-4850-8F76-092367175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381250"/>
            <a:ext cx="17621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7DDC8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87BD9D-7D68-4605-96F6-9878DF73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955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7DDC8A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EF1BA2-6595-4C5E-ACB6-53626786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857500"/>
            <a:ext cx="1419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heuristic lab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02D759-9205-4F58-B58D-9B2660A5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257550"/>
            <a:ext cx="1419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basic / lookahead / decay 已进网站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72033E-CF2B-445C-B7D4-DCF1B30C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38450"/>
            <a:ext cx="32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BE083-A6BD-47D0-ADE2-C3BB1F02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81250"/>
            <a:ext cx="17621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F36B6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88BE75-2375-4173-9026-4A0B9EAF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4955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36B6B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39143B-D313-48DB-A59C-431E9687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57500"/>
            <a:ext cx="1419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bounded search 负样本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D5FF69-3748-4EB8-BFB6-C8934288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1419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qft10: 52 SWAP，差于 lookahead 29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B78E2C-9120-4169-AFEA-FFF4D876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38450"/>
            <a:ext cx="32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840E37-A2CA-4AD0-BD17-E7727A95C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81250"/>
            <a:ext cx="17621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F2B84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C9F0E1-8BE7-41F2-AAD9-A48EF5AD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4955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2B84B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4B6D00-4EC4-4C1E-84EA-680D0234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857500"/>
            <a:ext cx="1419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multi-trial / trace explanation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42C608-489A-49D7-BD9A-96AAE50E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57550"/>
            <a:ext cx="1419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先增强解释和可复现模式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484503-5265-4FEE-BCA0-9EBD82E4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838450"/>
            <a:ext cx="32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95EC3B-7937-471B-95B2-9373F95E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81250"/>
            <a:ext cx="1762125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19050">
            <a:solidFill>
              <a:srgbClr val="8EA0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9919E1-F912-4862-8D76-D8C3506F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495550"/>
            <a:ext cx="266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2C02F5-2CBA-4CD2-96C5-121DF211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57500"/>
            <a:ext cx="14192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MCTS / learning route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9EA66F-D87B-4E89-AA9A-A845CC25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57550"/>
            <a:ext cx="14192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必须先小实验，不直接长训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F81CA5-95DC-4F35-9D2E-147D9C8C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895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F7F1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097D60-56AA-4A00-BDDF-CF7E219A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6863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当前交付结论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97B237-157A-41B4-8096-DA636BF5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695825"/>
            <a:ext cx="609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02033"/>
                </a:solidFill>
                <a:latin typeface="Aptos"/>
                <a:ea typeface="Aptos"/>
                <a:cs typeface="Aptos"/>
              </a:defRPr>
            </a:pPr>
            <a:r>
              <a:t>先交付 LightSABRE / SabreSwap heuristic lab + live API；bounded search 作为失败分析证据，不进入网站默认算法。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D55F55-B8EF-4A2E-AAD6-F04B1291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1104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EA0B8"/>
                </a:solidFill>
                <a:latin typeface="Aptos"/>
                <a:ea typeface="Aptos"/>
                <a:cs typeface="Aptos"/>
              </a:defRPr>
            </a:pPr>
            <a:r>
              <a:t>Contribution: personal-led delivery — problem framing 20%, engineering 30%, experiments 25%, website 15%, documentation / AI collaboration 10%.</a:t>
            </a:r>
          </a:p>
        </p:txBody>
      </p:sp>
    </p:spTree>
    <p:extLst>
      <p:ext uri="{BB962C8B-B14F-4D97-AF65-F5344CB8AC3E}">
        <p14:creationId xmlns:p14="http://schemas.microsoft.com/office/powerpoint/2010/main" val="7356165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2026-06-15T14:14:40.8030000Z</dcterms:created>
  <dcterms:modified xsi:type="dcterms:W3CDTF">2026-06-15T14:14:40.8030000Z</dcterms:modified>
</coreProperties>
</file>